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3A8A8D-FFEC-490B-BD21-C676032974C9}" v="24" dt="2026-10-03T03:52:11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MAPS &amp; DIRECTIONS - Best Private University in Telangana ...">
            <a:extLst>
              <a:ext uri="{FF2B5EF4-FFF2-40B4-BE49-F238E27FC236}">
                <a16:creationId xmlns:a16="http://schemas.microsoft.com/office/drawing/2014/main" id="{93BA6499-3D86-EEB5-F906-E9949E6D6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654" y="-567455"/>
            <a:ext cx="2743199" cy="20389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76E4CDD-28B6-7D69-F4B1-BE7B191DF214}"/>
              </a:ext>
            </a:extLst>
          </p:cNvPr>
          <p:cNvSpPr txBox="1"/>
          <p:nvPr/>
        </p:nvSpPr>
        <p:spPr>
          <a:xfrm>
            <a:off x="850002" y="704306"/>
            <a:ext cx="8516315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Data Structures and Algorithms - 3</a:t>
            </a:r>
            <a:br>
              <a:rPr lang="en-US" sz="4400" b="1" dirty="0">
                <a:ea typeface="+mn-lt"/>
                <a:cs typeface="+mn-lt"/>
              </a:rPr>
            </a:br>
            <a:r>
              <a:rPr lang="en-US" sz="4400" b="1" dirty="0">
                <a:solidFill>
                  <a:srgbClr val="FF0000"/>
                </a:solidFill>
                <a:ea typeface="+mn-lt"/>
                <a:cs typeface="+mn-lt"/>
              </a:rPr>
              <a:t> (25CS2103E)</a:t>
            </a:r>
            <a:endParaRPr lang="en-US" sz="4400" b="1" dirty="0">
              <a:solidFill>
                <a:srgbClr val="FF0000"/>
              </a:solidFill>
              <a:ea typeface="Calibri"/>
              <a:cs typeface="Calibri"/>
            </a:endParaRPr>
          </a:p>
          <a:p>
            <a:pPr algn="ctr"/>
            <a:r>
              <a:rPr lang="en-US" sz="4400" b="1" dirty="0">
                <a:solidFill>
                  <a:srgbClr val="FF0000"/>
                </a:solidFill>
              </a:rPr>
              <a:t>  Digital Library Search System</a:t>
            </a:r>
            <a:endParaRPr lang="en-US" sz="4400" b="1" dirty="0">
              <a:solidFill>
                <a:srgbClr val="FF0000"/>
              </a:solidFill>
              <a:ea typeface="Calibri"/>
              <a:cs typeface="Calibri"/>
            </a:endParaRPr>
          </a:p>
          <a:p>
            <a:pPr algn="ctr"/>
            <a:endParaRPr lang="en-US" b="1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b="1" dirty="0">
              <a:ea typeface="+mn-lt"/>
              <a:cs typeface="+mn-lt"/>
            </a:endParaRPr>
          </a:p>
          <a:p>
            <a:endParaRPr lang="en-US" b="1" dirty="0">
              <a:ea typeface="+mn-lt"/>
              <a:cs typeface="+mn-lt"/>
            </a:endParaRPr>
          </a:p>
          <a:p>
            <a:endParaRPr lang="en-US" b="1" dirty="0">
              <a:ea typeface="+mn-lt"/>
              <a:cs typeface="+mn-lt"/>
            </a:endParaRPr>
          </a:p>
          <a:p>
            <a:pPr algn="ctr"/>
            <a:r>
              <a:rPr lang="en-US" dirty="0">
                <a:latin typeface="Bookman Old Style"/>
                <a:ea typeface="+mn-lt"/>
                <a:cs typeface="+mn-lt"/>
              </a:rPr>
              <a:t>Team Members:</a:t>
            </a:r>
            <a:endParaRPr lang="en-US">
              <a:latin typeface="Bookman Old Style"/>
              <a:ea typeface="Calibri"/>
              <a:cs typeface="Calibri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2520030476 – Tej Pratap </a:t>
            </a:r>
            <a:endParaRPr lang="en-US" dirty="0">
              <a:ea typeface="Calibri"/>
              <a:cs typeface="Calibri"/>
            </a:endParaRPr>
          </a:p>
          <a:p>
            <a:pPr algn="ctr"/>
            <a:r>
              <a:rPr lang="en-US" dirty="0">
                <a:ea typeface="+mn-lt"/>
                <a:cs typeface="+mn-lt"/>
              </a:rPr>
              <a:t>2520030343 – B. Aryan 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+mn-lt"/>
              <a:cs typeface="+mn-lt"/>
            </a:endParaRPr>
          </a:p>
          <a:p>
            <a:pPr algn="ctr"/>
            <a:endParaRPr lang="en-US" dirty="0">
              <a:ea typeface="+mn-lt"/>
              <a:cs typeface="+mn-lt"/>
            </a:endParaRPr>
          </a:p>
          <a:p>
            <a:pPr algn="ctr"/>
            <a:r>
              <a:rPr lang="en-US" dirty="0">
                <a:latin typeface="Bookman Old Style"/>
                <a:ea typeface="+mn-lt"/>
                <a:cs typeface="+mn-lt"/>
              </a:rPr>
              <a:t>Under the Esteemed Guidance of</a:t>
            </a:r>
            <a:br>
              <a:rPr lang="en-US" dirty="0">
                <a:latin typeface="Bookman Old Style"/>
                <a:ea typeface="+mn-lt"/>
                <a:cs typeface="+mn-lt"/>
              </a:rPr>
            </a:br>
            <a:r>
              <a:rPr lang="en-US" dirty="0">
                <a:latin typeface="Bookman Old Style"/>
                <a:ea typeface="+mn-lt"/>
                <a:cs typeface="+mn-lt"/>
              </a:rPr>
              <a:t> Dr. V. Sireesha</a:t>
            </a:r>
            <a:endParaRPr lang="en-US" dirty="0">
              <a:latin typeface="Bookman Old Style"/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789920" cy="5693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100" b="1" dirty="0">
                <a:solidFill>
                  <a:srgbClr val="14181E"/>
                </a:solidFill>
                <a:latin typeface="Aptos Display"/>
              </a:rPr>
              <a:t>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2130552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325880" y="2121408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181E"/>
                </a:solidFill>
                <a:latin typeface="Aptos Display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52344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50392" y="2916936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2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325880" y="2907791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181E"/>
                </a:solidFill>
                <a:latin typeface="Aptos Display"/>
              </a:rPr>
              <a:t>Introduction &amp; Literature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64991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3538728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392" y="3703320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3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325880" y="3694176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4181E"/>
                </a:solidFill>
                <a:latin typeface="Aptos Display"/>
              </a:rPr>
              <a:t>Problem Statement &amp;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51376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5800" y="4325112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0392" y="4489704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4</a:t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" y="4480560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4181E"/>
                </a:solidFill>
                <a:latin typeface="Aptos Display"/>
              </a:rPr>
              <a:t>System Architecture &amp;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37760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5800" y="5111496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50392" y="5276088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25880" y="5266944"/>
            <a:ext cx="3005951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1400" b="1" dirty="0">
                <a:solidFill>
                  <a:srgbClr val="14181E"/>
                </a:solidFill>
                <a:latin typeface="Aptos Display"/>
              </a:rPr>
              <a:t>Hardware and Software Requirement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724144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8231" y="213969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578608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88321" y="2926079"/>
            <a:ext cx="245580" cy="2308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ptos"/>
              </a:rPr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446520" y="3364991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46520" y="4151376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095742" y="2006824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240960" y="2139128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6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6671245" y="2129984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4181E"/>
                </a:solidFill>
                <a:latin typeface="Aptos Display"/>
              </a:rPr>
              <a:t>Results &amp; Conclusion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082826" y="2760920"/>
            <a:ext cx="5074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240960" y="2893224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7</a:t>
            </a:r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6793940" y="2890537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4181E"/>
                </a:solidFill>
                <a:latin typeface="Aptos Display"/>
              </a:rPr>
              <a:t>Future Scope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5724144"/>
            <a:ext cx="470915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02</a:t>
            </a:r>
          </a:p>
        </p:txBody>
      </p:sp>
      <p:pic>
        <p:nvPicPr>
          <p:cNvPr id="61" name="Picture 60" descr="MAPS &amp; DIRECTIONS - Best Private University in Telangana ...">
            <a:extLst>
              <a:ext uri="{FF2B5EF4-FFF2-40B4-BE49-F238E27FC236}">
                <a16:creationId xmlns:a16="http://schemas.microsoft.com/office/drawing/2014/main" id="{653E19EF-8EAB-0F9C-60E4-22FE42E4B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315" y="-625573"/>
            <a:ext cx="2743199" cy="2038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">
            <a:extLst>
              <a:ext uri="{FF2B5EF4-FFF2-40B4-BE49-F238E27FC236}">
                <a16:creationId xmlns:a16="http://schemas.microsoft.com/office/drawing/2014/main" id="{F2CC49B6-82E9-F020-3BFE-003ADF8D27DA}"/>
              </a:ext>
            </a:extLst>
          </p:cNvPr>
          <p:cNvSpPr/>
          <p:nvPr/>
        </p:nvSpPr>
        <p:spPr>
          <a:xfrm>
            <a:off x="2928921" y="108437"/>
            <a:ext cx="4389120" cy="808029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  <a:latin typeface="Arial"/>
              </a:rPr>
              <a:t>Abstract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783B9E93-E592-534E-F75A-8D04090CBFC2}"/>
              </a:ext>
            </a:extLst>
          </p:cNvPr>
          <p:cNvSpPr txBox="1"/>
          <p:nvPr/>
        </p:nvSpPr>
        <p:spPr>
          <a:xfrm>
            <a:off x="-1221007" y="1107355"/>
            <a:ext cx="11619595" cy="416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Simplifies digital library resource searching and retrieval.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Uses Data Structures and Algorithms (DSA) for efficient searching.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Manages books, journals, magazines, and research papers.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Provides a centralized repository for library resources.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Supports searching by:  Title, Author, ISBN, Category, Keywords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Uses arrays, hashing, indexed structures, and string-matching techniques.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Supports exact-match, keyword, and pattern-matching searches.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Enables users to store, organize, search, and retrieve resources.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Reduces manual effort and search time.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Improves data organization and search accuracy.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Provides faster access to library resources.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Can be extended with fuzzy matching and ranked relevance.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Demonstrates the practical application of DSA to a real-world information-retrieval problem. 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sz="2000" dirty="0">
                <a:latin typeface="Calibri"/>
                <a:ea typeface="+mn-lt"/>
                <a:cs typeface="+mn-lt"/>
              </a:rPr>
              <a:t>Provides an efficient and user-friendly library search application.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571750" lvl="5" indent="-285750" algn="just">
              <a:spcAft>
                <a:spcPts val="800"/>
              </a:spcAft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761670BC-AA3C-D922-990F-90BD6B1E5CF3}"/>
              </a:ext>
            </a:extLst>
          </p:cNvPr>
          <p:cNvSpPr/>
          <p:nvPr/>
        </p:nvSpPr>
        <p:spPr>
          <a:xfrm>
            <a:off x="1720054" y="5902271"/>
            <a:ext cx="8961120" cy="502920"/>
          </a:xfrm>
          <a:prstGeom prst="roundRect">
            <a:avLst/>
          </a:prstGeom>
          <a:solidFill>
            <a:srgbClr val="FAFA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>
                <a:solidFill>
                  <a:srgbClr val="5A5A5A"/>
                </a:solidFill>
                <a:latin typeface="Arial"/>
              </a:defRPr>
            </a:pPr>
            <a:r>
              <a:t>Search by Title, Author, ISBN, Category or Keyword...</a:t>
            </a:r>
          </a:p>
        </p:txBody>
      </p:sp>
      <p:pic>
        <p:nvPicPr>
          <p:cNvPr id="33" name="Picture 32" descr="MAPS &amp; DIRECTIONS - Best Private University in Telangana ...">
            <a:extLst>
              <a:ext uri="{FF2B5EF4-FFF2-40B4-BE49-F238E27FC236}">
                <a16:creationId xmlns:a16="http://schemas.microsoft.com/office/drawing/2014/main" id="{83854D5A-904A-4C14-D9D4-486D05C59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773" y="-593285"/>
            <a:ext cx="2743199" cy="2038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AC56B833-09A5-25D1-DB37-1B82086EAAED}"/>
              </a:ext>
            </a:extLst>
          </p:cNvPr>
          <p:cNvSpPr/>
          <p:nvPr/>
        </p:nvSpPr>
        <p:spPr>
          <a:xfrm>
            <a:off x="3122649" y="289250"/>
            <a:ext cx="4557018" cy="859690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E590A072-2473-0D90-97F3-B636718C930E}"/>
              </a:ext>
            </a:extLst>
          </p:cNvPr>
          <p:cNvSpPr txBox="1"/>
          <p:nvPr/>
        </p:nvSpPr>
        <p:spPr>
          <a:xfrm>
            <a:off x="-372480" y="1327946"/>
            <a:ext cx="9546959" cy="4206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Managing and searching digital library resources is an important task in academic institutions.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Libraries contain large and growing collections of books, journals, magazines, and research papers.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These resources need to be maintained and organized regularly.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Manual or basic searching methods can make it difficult and time-consuming to locate a specific resource.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The Digital Library Search System provides a simple solution to this problem.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It organizes all library resources in a centralized and structured repository.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The system uses Data Structures and Algorithms (DSA) to perform searches efficiently.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Users can search resources by title, author, ISBN, category, or keyword.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Efficient indexing and string-matching techniques are used to improve search performance.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The system is designed to be easy to use, accurate, and scalable.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It also helps students understand the practical applications of DSA in real-life information-retrieval systems.</a:t>
            </a:r>
          </a:p>
          <a:p>
            <a:pPr>
              <a:spcAft>
                <a:spcPts val="900"/>
              </a:spcAft>
              <a:defRPr sz="1900">
                <a:solidFill>
                  <a:srgbClr val="191919"/>
                </a:solidFill>
                <a:latin typeface="Arial"/>
              </a:defRPr>
            </a:pPr>
            <a:endParaRPr lang="en-US" dirty="0">
              <a:cs typeface="Arial"/>
            </a:endParaRPr>
          </a:p>
        </p:txBody>
      </p:sp>
      <p:pic>
        <p:nvPicPr>
          <p:cNvPr id="26" name="Picture 25" descr="MAPS &amp; DIRECTIONS - Best Private University in Telangana ...">
            <a:extLst>
              <a:ext uri="{FF2B5EF4-FFF2-40B4-BE49-F238E27FC236}">
                <a16:creationId xmlns:a16="http://schemas.microsoft.com/office/drawing/2014/main" id="{F8BE99AE-3AD1-D50E-841A-9FA548F8A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146" y="-657861"/>
            <a:ext cx="2743199" cy="2038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182880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C6470"/>
                </a:solidFill>
                <a:latin typeface="Aptos"/>
              </a:rPr>
              <a:t>03 • LITERATURE SURVEY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902" y="1714113"/>
            <a:ext cx="10935087" cy="4095685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1224676" y="2132515"/>
            <a:ext cx="11675750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Existing digital library systems store title, author, ISBN, category, and keywords.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Resources include books, journals, and research papers.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Traditional systems mainly use linear search.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Linear search becomes slow with increasing records.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DSA techniques improve search speed and organization.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Array-based indexing helps manage records efficiently.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Hashing enables faster record retrieval.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Exact-match string search helps locate specific resources.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The proposed system combines these techniques for a simple, fast, and scalable library search system. </a:t>
            </a:r>
          </a:p>
          <a:p>
            <a:pPr marL="2628900" lvl="5" indent="-342900" algn="just">
              <a:buFont typeface="Wingdings"/>
              <a:buChar char="Ø"/>
              <a:defRPr sz="1800">
                <a:solidFill>
                  <a:srgbClr val="191919"/>
                </a:solidFill>
                <a:latin typeface="Arial"/>
              </a:defRPr>
            </a:pPr>
            <a:r>
              <a:rPr lang="en-US" dirty="0">
                <a:solidFill>
                  <a:srgbClr val="191919"/>
                </a:solidFill>
                <a:latin typeface="Calibri"/>
                <a:ea typeface="+mn-lt"/>
                <a:cs typeface="+mn-lt"/>
              </a:rPr>
              <a:t>Future extensions include fuzzy matching and ranked relevance.</a:t>
            </a:r>
          </a:p>
          <a:p>
            <a:pPr>
              <a:spcAft>
                <a:spcPts val="900"/>
              </a:spcAft>
            </a:pPr>
            <a:endParaRPr lang="en-US" sz="1200" dirty="0">
              <a:solidFill>
                <a:srgbClr val="14181E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05</a:t>
            </a:r>
          </a:p>
        </p:txBody>
      </p:sp>
      <p:pic>
        <p:nvPicPr>
          <p:cNvPr id="19" name="Picture 18" descr="MAPS &amp; DIRECTIONS - Best Private University in Telangana ...">
            <a:extLst>
              <a:ext uri="{FF2B5EF4-FFF2-40B4-BE49-F238E27FC236}">
                <a16:creationId xmlns:a16="http://schemas.microsoft.com/office/drawing/2014/main" id="{996D6F29-30A1-DC2E-ADF9-0FCCDB09B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952" y="-662795"/>
            <a:ext cx="3190875" cy="2371725"/>
          </a:xfrm>
          <a:prstGeom prst="rect">
            <a:avLst/>
          </a:prstGeom>
        </p:spPr>
      </p:pic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3DD7BBBD-986F-9E42-7266-793AD64868EE}"/>
              </a:ext>
            </a:extLst>
          </p:cNvPr>
          <p:cNvSpPr/>
          <p:nvPr/>
        </p:nvSpPr>
        <p:spPr>
          <a:xfrm>
            <a:off x="3200141" y="321539"/>
            <a:ext cx="3549628" cy="937181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Literature Survey</a:t>
            </a:r>
            <a:endParaRPr lang="en-US" sz="2800" b="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8660" y="1601363"/>
            <a:ext cx="5315918" cy="4036731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74358" y="1919804"/>
            <a:ext cx="1887248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14181E"/>
                </a:solidFill>
                <a:latin typeface="Aptos Display"/>
              </a:rPr>
              <a:t>Problem Statement</a:t>
            </a:r>
            <a:endParaRPr lang="en-US" sz="1600" b="1" dirty="0">
              <a:solidFill>
                <a:srgbClr val="14181E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9052" y="2423459"/>
            <a:ext cx="4892040" cy="32085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Libraries contain thousands of books, journals, magazines, and research papers. 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Finding specific resources manually becomes time-consuming and difficult as the collection grows. 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Basic searching methods are not efficient for large library collections. 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A centralized system is needed to store library records efficiently. 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Users should be able to quickly search and retrieve information. 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The system uses Data Structures and Algorithms (DSA) to improve search efficiency.</a:t>
            </a:r>
            <a:endParaRPr lang="en-US" sz="1600">
              <a:ea typeface="Calibri"/>
              <a:cs typeface="Calibri"/>
            </a:endParaRPr>
          </a:p>
          <a:p>
            <a:endParaRPr lang="en-US" sz="1050" dirty="0">
              <a:solidFill>
                <a:srgbClr val="5C6470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23861" y="1603816"/>
            <a:ext cx="5671087" cy="5045474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1741" y="2088603"/>
            <a:ext cx="1118832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14181E"/>
                </a:solidFill>
                <a:latin typeface="Aptos Display"/>
              </a:rPr>
              <a:t>Objectives</a:t>
            </a:r>
            <a:endParaRPr lang="en-US" sz="1600" b="1" dirty="0">
              <a:solidFill>
                <a:srgbClr val="14181E"/>
              </a:solidFill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080" y="2423108"/>
            <a:ext cx="5395735" cy="41934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Store library records in an organized, centralized repository.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Provide fast searching using: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Title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Author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ISBN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Category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Keywords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Implement efficient data structures for indexing and retrieval.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Use exact-match and string-matching techniques.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Maintain consistent search performance as the repository grows.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Apply DSA concepts to a real-world information-retrieval problem.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Build a scalable foundation for future intelligent and fuzzy search features.</a:t>
            </a:r>
          </a:p>
          <a:p>
            <a:endParaRPr lang="en-US" sz="1050" dirty="0">
              <a:solidFill>
                <a:srgbClr val="5C647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06</a:t>
            </a:r>
          </a:p>
        </p:txBody>
      </p:sp>
      <p:pic>
        <p:nvPicPr>
          <p:cNvPr id="27" name="Picture 26" descr="MAPS &amp; DIRECTIONS - Best Private University in Telangana ...">
            <a:extLst>
              <a:ext uri="{FF2B5EF4-FFF2-40B4-BE49-F238E27FC236}">
                <a16:creationId xmlns:a16="http://schemas.microsoft.com/office/drawing/2014/main" id="{65BCEC3D-845D-5538-D2BD-5B20BD430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112" y="-438302"/>
            <a:ext cx="2743199" cy="2038975"/>
          </a:xfrm>
          <a:prstGeom prst="rect">
            <a:avLst/>
          </a:prstGeom>
        </p:spPr>
      </p:pic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83A9712B-F6AE-5D45-59FD-0E74D28004E7}"/>
              </a:ext>
            </a:extLst>
          </p:cNvPr>
          <p:cNvSpPr/>
          <p:nvPr/>
        </p:nvSpPr>
        <p:spPr>
          <a:xfrm>
            <a:off x="4132993" y="202168"/>
            <a:ext cx="4737831" cy="1235864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Problem Statement and 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E25DEF-17F8-39C4-7C0F-29A57D497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94" y="5800170"/>
            <a:ext cx="5060359" cy="662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07</a:t>
            </a:r>
          </a:p>
        </p:txBody>
      </p:sp>
      <p:pic>
        <p:nvPicPr>
          <p:cNvPr id="32" name="Picture 31" descr="MAPS &amp; DIRECTIONS - Best Private University in Telangana ...">
            <a:extLst>
              <a:ext uri="{FF2B5EF4-FFF2-40B4-BE49-F238E27FC236}">
                <a16:creationId xmlns:a16="http://schemas.microsoft.com/office/drawing/2014/main" id="{AE42066D-EFCC-B108-5BB7-51D837419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281" y="-535166"/>
            <a:ext cx="2743199" cy="2038975"/>
          </a:xfrm>
          <a:prstGeom prst="rect">
            <a:avLst/>
          </a:prstGeom>
        </p:spPr>
      </p:pic>
      <p:sp>
        <p:nvSpPr>
          <p:cNvPr id="34" name="Rounded Rectangle 2">
            <a:extLst>
              <a:ext uri="{FF2B5EF4-FFF2-40B4-BE49-F238E27FC236}">
                <a16:creationId xmlns:a16="http://schemas.microsoft.com/office/drawing/2014/main" id="{BE39E4A7-F651-0122-C8AC-9052B9661FFA}"/>
              </a:ext>
            </a:extLst>
          </p:cNvPr>
          <p:cNvSpPr/>
          <p:nvPr/>
        </p:nvSpPr>
        <p:spPr>
          <a:xfrm>
            <a:off x="3749039" y="566928"/>
            <a:ext cx="4389120" cy="530352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System Architecture</a:t>
            </a:r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196347C3-E102-B624-2319-C6FD7B2C9969}"/>
              </a:ext>
            </a:extLst>
          </p:cNvPr>
          <p:cNvSpPr/>
          <p:nvPr/>
        </p:nvSpPr>
        <p:spPr>
          <a:xfrm>
            <a:off x="1143000" y="1965960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User</a:t>
            </a:r>
            <a:br/>
            <a:r>
              <a:t>Browser</a:t>
            </a:r>
          </a:p>
        </p:txBody>
      </p:sp>
      <p:sp>
        <p:nvSpPr>
          <p:cNvPr id="36" name="Rounded Rectangle 4">
            <a:extLst>
              <a:ext uri="{FF2B5EF4-FFF2-40B4-BE49-F238E27FC236}">
                <a16:creationId xmlns:a16="http://schemas.microsoft.com/office/drawing/2014/main" id="{D63795D8-5CCA-91F6-FAB8-74DCC2772148}"/>
              </a:ext>
            </a:extLst>
          </p:cNvPr>
          <p:cNvSpPr/>
          <p:nvPr/>
        </p:nvSpPr>
        <p:spPr>
          <a:xfrm>
            <a:off x="3154680" y="196596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Frontend</a:t>
            </a:r>
            <a:br/>
            <a:r>
              <a:t>HTML / CSS / JS</a:t>
            </a:r>
          </a:p>
        </p:txBody>
      </p:sp>
      <p:sp>
        <p:nvSpPr>
          <p:cNvPr id="37" name="Rounded Rectangle 5">
            <a:extLst>
              <a:ext uri="{FF2B5EF4-FFF2-40B4-BE49-F238E27FC236}">
                <a16:creationId xmlns:a16="http://schemas.microsoft.com/office/drawing/2014/main" id="{3D618FFF-6104-324C-E750-43D47AE8475C}"/>
              </a:ext>
            </a:extLst>
          </p:cNvPr>
          <p:cNvSpPr/>
          <p:nvPr/>
        </p:nvSpPr>
        <p:spPr>
          <a:xfrm>
            <a:off x="5486400" y="196596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Java Backend</a:t>
            </a:r>
            <a:br/>
            <a:r>
              <a:t>HTTP APIs</a:t>
            </a: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51A30924-ED55-CC67-AF23-52FC98D952A6}"/>
              </a:ext>
            </a:extLst>
          </p:cNvPr>
          <p:cNvSpPr/>
          <p:nvPr/>
        </p:nvSpPr>
        <p:spPr>
          <a:xfrm>
            <a:off x="7818120" y="196596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DSA Engine</a:t>
            </a:r>
            <a:br/>
            <a:r>
              <a:t>Search / Sort</a:t>
            </a:r>
          </a:p>
        </p:txBody>
      </p:sp>
      <p:sp>
        <p:nvSpPr>
          <p:cNvPr id="39" name="Rounded Rectangle 7">
            <a:extLst>
              <a:ext uri="{FF2B5EF4-FFF2-40B4-BE49-F238E27FC236}">
                <a16:creationId xmlns:a16="http://schemas.microsoft.com/office/drawing/2014/main" id="{BD61BCEC-2BD4-7A12-0F3D-905869E96911}"/>
              </a:ext>
            </a:extLst>
          </p:cNvPr>
          <p:cNvSpPr/>
          <p:nvPr/>
        </p:nvSpPr>
        <p:spPr>
          <a:xfrm>
            <a:off x="10012680" y="196596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Text Files</a:t>
            </a:r>
            <a:br/>
            <a:r>
              <a:t>.txt Storage</a:t>
            </a:r>
          </a:p>
        </p:txBody>
      </p:sp>
      <p:cxnSp>
        <p:nvCxnSpPr>
          <p:cNvPr id="40" name="Connector 8">
            <a:extLst>
              <a:ext uri="{FF2B5EF4-FFF2-40B4-BE49-F238E27FC236}">
                <a16:creationId xmlns:a16="http://schemas.microsoft.com/office/drawing/2014/main" id="{B101334D-C5F6-E801-47A1-E30754C340B4}"/>
              </a:ext>
            </a:extLst>
          </p:cNvPr>
          <p:cNvCxnSpPr/>
          <p:nvPr/>
        </p:nvCxnSpPr>
        <p:spPr>
          <a:xfrm>
            <a:off x="2788920" y="244144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9">
            <a:extLst>
              <a:ext uri="{FF2B5EF4-FFF2-40B4-BE49-F238E27FC236}">
                <a16:creationId xmlns:a16="http://schemas.microsoft.com/office/drawing/2014/main" id="{DB2D0335-DBC1-C895-A5F6-F02C907F1B9A}"/>
              </a:ext>
            </a:extLst>
          </p:cNvPr>
          <p:cNvCxnSpPr/>
          <p:nvPr/>
        </p:nvCxnSpPr>
        <p:spPr>
          <a:xfrm>
            <a:off x="5074920" y="2441448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10">
            <a:extLst>
              <a:ext uri="{FF2B5EF4-FFF2-40B4-BE49-F238E27FC236}">
                <a16:creationId xmlns:a16="http://schemas.microsoft.com/office/drawing/2014/main" id="{3F425C6F-9682-9C67-4E29-3CF28BE0D6F0}"/>
              </a:ext>
            </a:extLst>
          </p:cNvPr>
          <p:cNvCxnSpPr/>
          <p:nvPr/>
        </p:nvCxnSpPr>
        <p:spPr>
          <a:xfrm>
            <a:off x="7406640" y="2441448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11">
            <a:extLst>
              <a:ext uri="{FF2B5EF4-FFF2-40B4-BE49-F238E27FC236}">
                <a16:creationId xmlns:a16="http://schemas.microsoft.com/office/drawing/2014/main" id="{3C734568-9F37-6996-11C5-D911C36C8B3A}"/>
              </a:ext>
            </a:extLst>
          </p:cNvPr>
          <p:cNvCxnSpPr/>
          <p:nvPr/>
        </p:nvCxnSpPr>
        <p:spPr>
          <a:xfrm>
            <a:off x="9646920" y="244144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12">
            <a:extLst>
              <a:ext uri="{FF2B5EF4-FFF2-40B4-BE49-F238E27FC236}">
                <a16:creationId xmlns:a16="http://schemas.microsoft.com/office/drawing/2014/main" id="{37AC94A8-B26A-3518-43F9-D32635232252}"/>
              </a:ext>
            </a:extLst>
          </p:cNvPr>
          <p:cNvSpPr/>
          <p:nvPr/>
        </p:nvSpPr>
        <p:spPr>
          <a:xfrm>
            <a:off x="1920240" y="3840480"/>
            <a:ext cx="4023360" cy="1371600"/>
          </a:xfrm>
          <a:prstGeom prst="roundRect">
            <a:avLst/>
          </a:prstGeom>
          <a:solidFill>
            <a:srgbClr val="FFFA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Frontend Layer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Displays search, results, analytics, and admin screens.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Sends requests to Java backend APIs.</a:t>
            </a:r>
          </a:p>
        </p:txBody>
      </p:sp>
      <p:sp>
        <p:nvSpPr>
          <p:cNvPr id="45" name="Rounded Rectangle 13">
            <a:extLst>
              <a:ext uri="{FF2B5EF4-FFF2-40B4-BE49-F238E27FC236}">
                <a16:creationId xmlns:a16="http://schemas.microsoft.com/office/drawing/2014/main" id="{2A7E1850-CD35-539E-D09E-4A209A0B5220}"/>
              </a:ext>
            </a:extLst>
          </p:cNvPr>
          <p:cNvSpPr/>
          <p:nvPr/>
        </p:nvSpPr>
        <p:spPr>
          <a:xfrm>
            <a:off x="6400800" y="3840480"/>
            <a:ext cx="4023360" cy="1371600"/>
          </a:xfrm>
          <a:prstGeom prst="roundRect">
            <a:avLst/>
          </a:prstGeom>
          <a:solidFill>
            <a:srgbClr val="FFFA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Backend Layer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Loads records from text files.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Builds indexes and runs DSA algorithms.</a:t>
            </a:r>
          </a:p>
        </p:txBody>
      </p:sp>
      <p:sp>
        <p:nvSpPr>
          <p:cNvPr id="48" name="Rounded Rectangle 2">
            <a:extLst>
              <a:ext uri="{FF2B5EF4-FFF2-40B4-BE49-F238E27FC236}">
                <a16:creationId xmlns:a16="http://schemas.microsoft.com/office/drawing/2014/main" id="{D8394FDD-FB07-1DA6-964D-E2A94F77DB58}"/>
              </a:ext>
            </a:extLst>
          </p:cNvPr>
          <p:cNvSpPr/>
          <p:nvPr/>
        </p:nvSpPr>
        <p:spPr>
          <a:xfrm>
            <a:off x="3749039" y="566928"/>
            <a:ext cx="4389120" cy="530352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System Architecture</a:t>
            </a:r>
          </a:p>
        </p:txBody>
      </p:sp>
      <p:sp>
        <p:nvSpPr>
          <p:cNvPr id="49" name="Rounded Rectangle 3">
            <a:extLst>
              <a:ext uri="{FF2B5EF4-FFF2-40B4-BE49-F238E27FC236}">
                <a16:creationId xmlns:a16="http://schemas.microsoft.com/office/drawing/2014/main" id="{EFC62B78-3681-FACE-A47D-E85A424F5E1C}"/>
              </a:ext>
            </a:extLst>
          </p:cNvPr>
          <p:cNvSpPr/>
          <p:nvPr/>
        </p:nvSpPr>
        <p:spPr>
          <a:xfrm>
            <a:off x="1143000" y="1965960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User</a:t>
            </a:r>
            <a:br/>
            <a:r>
              <a:t>Browser</a:t>
            </a:r>
          </a:p>
        </p:txBody>
      </p:sp>
      <p:sp>
        <p:nvSpPr>
          <p:cNvPr id="50" name="Rounded Rectangle 4">
            <a:extLst>
              <a:ext uri="{FF2B5EF4-FFF2-40B4-BE49-F238E27FC236}">
                <a16:creationId xmlns:a16="http://schemas.microsoft.com/office/drawing/2014/main" id="{B08C4B44-9C77-3542-3FCD-5273AF607411}"/>
              </a:ext>
            </a:extLst>
          </p:cNvPr>
          <p:cNvSpPr/>
          <p:nvPr/>
        </p:nvSpPr>
        <p:spPr>
          <a:xfrm>
            <a:off x="3154680" y="196596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Frontend</a:t>
            </a:r>
            <a:br/>
            <a:r>
              <a:t>HTML / CSS / JS</a:t>
            </a:r>
          </a:p>
        </p:txBody>
      </p:sp>
      <p:sp>
        <p:nvSpPr>
          <p:cNvPr id="51" name="Rounded Rectangle 5">
            <a:extLst>
              <a:ext uri="{FF2B5EF4-FFF2-40B4-BE49-F238E27FC236}">
                <a16:creationId xmlns:a16="http://schemas.microsoft.com/office/drawing/2014/main" id="{F05E6C1E-FF76-6500-9E5C-89B1DAFD4F03}"/>
              </a:ext>
            </a:extLst>
          </p:cNvPr>
          <p:cNvSpPr/>
          <p:nvPr/>
        </p:nvSpPr>
        <p:spPr>
          <a:xfrm>
            <a:off x="5486400" y="196596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Java Backend</a:t>
            </a:r>
            <a:br/>
            <a:r>
              <a:t>HTTP APIs</a:t>
            </a:r>
          </a:p>
        </p:txBody>
      </p:sp>
      <p:sp>
        <p:nvSpPr>
          <p:cNvPr id="52" name="Rounded Rectangle 6">
            <a:extLst>
              <a:ext uri="{FF2B5EF4-FFF2-40B4-BE49-F238E27FC236}">
                <a16:creationId xmlns:a16="http://schemas.microsoft.com/office/drawing/2014/main" id="{3942C45A-B6A2-B1CD-972E-E43FDF9DF8EC}"/>
              </a:ext>
            </a:extLst>
          </p:cNvPr>
          <p:cNvSpPr/>
          <p:nvPr/>
        </p:nvSpPr>
        <p:spPr>
          <a:xfrm>
            <a:off x="7818120" y="196596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DSA Engine</a:t>
            </a:r>
            <a:br/>
            <a:r>
              <a:t>Search / Sort</a:t>
            </a:r>
          </a:p>
        </p:txBody>
      </p:sp>
      <p:sp>
        <p:nvSpPr>
          <p:cNvPr id="53" name="Rounded Rectangle 7">
            <a:extLst>
              <a:ext uri="{FF2B5EF4-FFF2-40B4-BE49-F238E27FC236}">
                <a16:creationId xmlns:a16="http://schemas.microsoft.com/office/drawing/2014/main" id="{26B24817-856E-D34E-1E70-D2349D22722D}"/>
              </a:ext>
            </a:extLst>
          </p:cNvPr>
          <p:cNvSpPr/>
          <p:nvPr/>
        </p:nvSpPr>
        <p:spPr>
          <a:xfrm>
            <a:off x="10012680" y="196596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Text Files</a:t>
            </a:r>
            <a:br/>
            <a:r>
              <a:t>.txt Storage</a:t>
            </a:r>
          </a:p>
        </p:txBody>
      </p:sp>
      <p:cxnSp>
        <p:nvCxnSpPr>
          <p:cNvPr id="54" name="Connector 8">
            <a:extLst>
              <a:ext uri="{FF2B5EF4-FFF2-40B4-BE49-F238E27FC236}">
                <a16:creationId xmlns:a16="http://schemas.microsoft.com/office/drawing/2014/main" id="{AD7ECA5F-95A9-38BE-3BC2-F5F59590335C}"/>
              </a:ext>
            </a:extLst>
          </p:cNvPr>
          <p:cNvCxnSpPr/>
          <p:nvPr/>
        </p:nvCxnSpPr>
        <p:spPr>
          <a:xfrm>
            <a:off x="2788920" y="244144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9">
            <a:extLst>
              <a:ext uri="{FF2B5EF4-FFF2-40B4-BE49-F238E27FC236}">
                <a16:creationId xmlns:a16="http://schemas.microsoft.com/office/drawing/2014/main" id="{78965E2B-0FBE-C9CC-67A9-23AAE75019D1}"/>
              </a:ext>
            </a:extLst>
          </p:cNvPr>
          <p:cNvCxnSpPr/>
          <p:nvPr/>
        </p:nvCxnSpPr>
        <p:spPr>
          <a:xfrm>
            <a:off x="5074920" y="2441448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10">
            <a:extLst>
              <a:ext uri="{FF2B5EF4-FFF2-40B4-BE49-F238E27FC236}">
                <a16:creationId xmlns:a16="http://schemas.microsoft.com/office/drawing/2014/main" id="{4912E19A-A6BD-52E4-DF4D-DFC5A0C9F9B9}"/>
              </a:ext>
            </a:extLst>
          </p:cNvPr>
          <p:cNvCxnSpPr/>
          <p:nvPr/>
        </p:nvCxnSpPr>
        <p:spPr>
          <a:xfrm>
            <a:off x="7406640" y="2441448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11">
            <a:extLst>
              <a:ext uri="{FF2B5EF4-FFF2-40B4-BE49-F238E27FC236}">
                <a16:creationId xmlns:a16="http://schemas.microsoft.com/office/drawing/2014/main" id="{8C3A6726-6CA7-D5EA-6A15-8629512D79E0}"/>
              </a:ext>
            </a:extLst>
          </p:cNvPr>
          <p:cNvCxnSpPr/>
          <p:nvPr/>
        </p:nvCxnSpPr>
        <p:spPr>
          <a:xfrm>
            <a:off x="9646920" y="244144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12">
            <a:extLst>
              <a:ext uri="{FF2B5EF4-FFF2-40B4-BE49-F238E27FC236}">
                <a16:creationId xmlns:a16="http://schemas.microsoft.com/office/drawing/2014/main" id="{94CD3465-C1D6-DF8B-B813-D58AC5ED5EB6}"/>
              </a:ext>
            </a:extLst>
          </p:cNvPr>
          <p:cNvSpPr/>
          <p:nvPr/>
        </p:nvSpPr>
        <p:spPr>
          <a:xfrm>
            <a:off x="1920240" y="3840480"/>
            <a:ext cx="4023360" cy="1371600"/>
          </a:xfrm>
          <a:prstGeom prst="roundRect">
            <a:avLst/>
          </a:prstGeom>
          <a:solidFill>
            <a:srgbClr val="FFFA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Frontend Layer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Displays search, results, analytics, and admin screens.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Sends requests to Java backend APIs.</a:t>
            </a:r>
          </a:p>
        </p:txBody>
      </p:sp>
      <p:sp>
        <p:nvSpPr>
          <p:cNvPr id="59" name="Rounded Rectangle 13">
            <a:extLst>
              <a:ext uri="{FF2B5EF4-FFF2-40B4-BE49-F238E27FC236}">
                <a16:creationId xmlns:a16="http://schemas.microsoft.com/office/drawing/2014/main" id="{73067FBD-DF47-CD50-CAFB-BE8DEF4E2138}"/>
              </a:ext>
            </a:extLst>
          </p:cNvPr>
          <p:cNvSpPr/>
          <p:nvPr/>
        </p:nvSpPr>
        <p:spPr>
          <a:xfrm>
            <a:off x="6400800" y="3840480"/>
            <a:ext cx="4023360" cy="1371600"/>
          </a:xfrm>
          <a:prstGeom prst="roundRect">
            <a:avLst/>
          </a:prstGeom>
          <a:solidFill>
            <a:srgbClr val="FFFA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Backend Layer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Loads records from text files.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Builds indexes and runs DSA algorithms.</a:t>
            </a:r>
          </a:p>
        </p:txBody>
      </p:sp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CDE2047E-3CCA-9D5E-0F25-C0B0AAB3C5DB}"/>
              </a:ext>
            </a:extLst>
          </p:cNvPr>
          <p:cNvSpPr/>
          <p:nvPr/>
        </p:nvSpPr>
        <p:spPr>
          <a:xfrm>
            <a:off x="3749039" y="566928"/>
            <a:ext cx="4389120" cy="530352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System Architecture</a:t>
            </a:r>
          </a:p>
        </p:txBody>
      </p:sp>
      <p:sp>
        <p:nvSpPr>
          <p:cNvPr id="63" name="Rounded Rectangle 3">
            <a:extLst>
              <a:ext uri="{FF2B5EF4-FFF2-40B4-BE49-F238E27FC236}">
                <a16:creationId xmlns:a16="http://schemas.microsoft.com/office/drawing/2014/main" id="{03DDCD51-9409-4411-31A4-10FEF8571D64}"/>
              </a:ext>
            </a:extLst>
          </p:cNvPr>
          <p:cNvSpPr/>
          <p:nvPr/>
        </p:nvSpPr>
        <p:spPr>
          <a:xfrm>
            <a:off x="1143000" y="1965960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User</a:t>
            </a:r>
            <a:br/>
            <a:r>
              <a:t>Browser</a:t>
            </a:r>
          </a:p>
        </p:txBody>
      </p:sp>
      <p:sp>
        <p:nvSpPr>
          <p:cNvPr id="64" name="Rounded Rectangle 4">
            <a:extLst>
              <a:ext uri="{FF2B5EF4-FFF2-40B4-BE49-F238E27FC236}">
                <a16:creationId xmlns:a16="http://schemas.microsoft.com/office/drawing/2014/main" id="{945D0770-45E9-6953-5331-366C42152C1C}"/>
              </a:ext>
            </a:extLst>
          </p:cNvPr>
          <p:cNvSpPr/>
          <p:nvPr/>
        </p:nvSpPr>
        <p:spPr>
          <a:xfrm>
            <a:off x="3154680" y="196596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Frontend</a:t>
            </a:r>
            <a:br/>
            <a:r>
              <a:t>HTML / CSS / JS</a:t>
            </a:r>
          </a:p>
        </p:txBody>
      </p:sp>
      <p:sp>
        <p:nvSpPr>
          <p:cNvPr id="65" name="Rounded Rectangle 5">
            <a:extLst>
              <a:ext uri="{FF2B5EF4-FFF2-40B4-BE49-F238E27FC236}">
                <a16:creationId xmlns:a16="http://schemas.microsoft.com/office/drawing/2014/main" id="{AC6FC16B-9240-FAB0-6035-5577B6E851E0}"/>
              </a:ext>
            </a:extLst>
          </p:cNvPr>
          <p:cNvSpPr/>
          <p:nvPr/>
        </p:nvSpPr>
        <p:spPr>
          <a:xfrm>
            <a:off x="5486400" y="196596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Java Backend</a:t>
            </a:r>
            <a:br/>
            <a:r>
              <a:t>HTTP APIs</a:t>
            </a:r>
          </a:p>
        </p:txBody>
      </p:sp>
      <p:sp>
        <p:nvSpPr>
          <p:cNvPr id="66" name="Rounded Rectangle 6">
            <a:extLst>
              <a:ext uri="{FF2B5EF4-FFF2-40B4-BE49-F238E27FC236}">
                <a16:creationId xmlns:a16="http://schemas.microsoft.com/office/drawing/2014/main" id="{99FCDFF6-406E-6C3F-B669-0B23A2DDA4E9}"/>
              </a:ext>
            </a:extLst>
          </p:cNvPr>
          <p:cNvSpPr/>
          <p:nvPr/>
        </p:nvSpPr>
        <p:spPr>
          <a:xfrm>
            <a:off x="7818120" y="196596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DSA Engine</a:t>
            </a:r>
            <a:br/>
            <a:r>
              <a:t>Search / Sort</a:t>
            </a:r>
          </a:p>
        </p:txBody>
      </p:sp>
      <p:sp>
        <p:nvSpPr>
          <p:cNvPr id="67" name="Rounded Rectangle 7">
            <a:extLst>
              <a:ext uri="{FF2B5EF4-FFF2-40B4-BE49-F238E27FC236}">
                <a16:creationId xmlns:a16="http://schemas.microsoft.com/office/drawing/2014/main" id="{402B625C-FDC2-6E2E-9D61-B2033DC63312}"/>
              </a:ext>
            </a:extLst>
          </p:cNvPr>
          <p:cNvSpPr/>
          <p:nvPr/>
        </p:nvSpPr>
        <p:spPr>
          <a:xfrm>
            <a:off x="10012680" y="196596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Text Files</a:t>
            </a:r>
            <a:br/>
            <a:r>
              <a:t>.txt Storage</a:t>
            </a:r>
          </a:p>
        </p:txBody>
      </p:sp>
      <p:cxnSp>
        <p:nvCxnSpPr>
          <p:cNvPr id="68" name="Connector 8">
            <a:extLst>
              <a:ext uri="{FF2B5EF4-FFF2-40B4-BE49-F238E27FC236}">
                <a16:creationId xmlns:a16="http://schemas.microsoft.com/office/drawing/2014/main" id="{ED13300F-ED30-A2EE-E535-963201C5271D}"/>
              </a:ext>
            </a:extLst>
          </p:cNvPr>
          <p:cNvCxnSpPr/>
          <p:nvPr/>
        </p:nvCxnSpPr>
        <p:spPr>
          <a:xfrm>
            <a:off x="2788920" y="244144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9">
            <a:extLst>
              <a:ext uri="{FF2B5EF4-FFF2-40B4-BE49-F238E27FC236}">
                <a16:creationId xmlns:a16="http://schemas.microsoft.com/office/drawing/2014/main" id="{23EC00A6-F3EB-E20C-2D03-4FA6D00BB4E2}"/>
              </a:ext>
            </a:extLst>
          </p:cNvPr>
          <p:cNvCxnSpPr/>
          <p:nvPr/>
        </p:nvCxnSpPr>
        <p:spPr>
          <a:xfrm>
            <a:off x="5074920" y="2441448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10">
            <a:extLst>
              <a:ext uri="{FF2B5EF4-FFF2-40B4-BE49-F238E27FC236}">
                <a16:creationId xmlns:a16="http://schemas.microsoft.com/office/drawing/2014/main" id="{E922EA1B-E92A-15E2-1DE8-76ADF141AB20}"/>
              </a:ext>
            </a:extLst>
          </p:cNvPr>
          <p:cNvCxnSpPr/>
          <p:nvPr/>
        </p:nvCxnSpPr>
        <p:spPr>
          <a:xfrm>
            <a:off x="7406640" y="2441448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11">
            <a:extLst>
              <a:ext uri="{FF2B5EF4-FFF2-40B4-BE49-F238E27FC236}">
                <a16:creationId xmlns:a16="http://schemas.microsoft.com/office/drawing/2014/main" id="{B09405E8-EDFE-47F7-387D-A4FB58FA06CF}"/>
              </a:ext>
            </a:extLst>
          </p:cNvPr>
          <p:cNvCxnSpPr/>
          <p:nvPr/>
        </p:nvCxnSpPr>
        <p:spPr>
          <a:xfrm>
            <a:off x="9646920" y="2441448"/>
            <a:ext cx="3657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12">
            <a:extLst>
              <a:ext uri="{FF2B5EF4-FFF2-40B4-BE49-F238E27FC236}">
                <a16:creationId xmlns:a16="http://schemas.microsoft.com/office/drawing/2014/main" id="{B6012756-BF2C-4825-AF95-8011AD56B75D}"/>
              </a:ext>
            </a:extLst>
          </p:cNvPr>
          <p:cNvSpPr/>
          <p:nvPr/>
        </p:nvSpPr>
        <p:spPr>
          <a:xfrm>
            <a:off x="1920240" y="3840480"/>
            <a:ext cx="4023360" cy="1371600"/>
          </a:xfrm>
          <a:prstGeom prst="roundRect">
            <a:avLst/>
          </a:prstGeom>
          <a:solidFill>
            <a:srgbClr val="FFFA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Frontend Layer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Displays search, results, analytics, and admin screens.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Sends requests to Java backend APIs.</a:t>
            </a:r>
          </a:p>
        </p:txBody>
      </p:sp>
      <p:sp>
        <p:nvSpPr>
          <p:cNvPr id="73" name="Rounded Rectangle 13">
            <a:extLst>
              <a:ext uri="{FF2B5EF4-FFF2-40B4-BE49-F238E27FC236}">
                <a16:creationId xmlns:a16="http://schemas.microsoft.com/office/drawing/2014/main" id="{D1349538-13AA-C0B3-4710-C56C2325DA25}"/>
              </a:ext>
            </a:extLst>
          </p:cNvPr>
          <p:cNvSpPr/>
          <p:nvPr/>
        </p:nvSpPr>
        <p:spPr>
          <a:xfrm>
            <a:off x="6400800" y="3840480"/>
            <a:ext cx="4023360" cy="1371600"/>
          </a:xfrm>
          <a:prstGeom prst="roundRect">
            <a:avLst/>
          </a:prstGeom>
          <a:solidFill>
            <a:srgbClr val="FFFA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Backend Layer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Loads records from text files.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Builds indexes and runs DSA algorithms.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08</a:t>
            </a:r>
          </a:p>
        </p:txBody>
      </p:sp>
      <p:pic>
        <p:nvPicPr>
          <p:cNvPr id="45" name="Picture 44" descr="MAPS &amp; DIRECTIONS - Best Private University in Telangana ...">
            <a:extLst>
              <a:ext uri="{FF2B5EF4-FFF2-40B4-BE49-F238E27FC236}">
                <a16:creationId xmlns:a16="http://schemas.microsoft.com/office/drawing/2014/main" id="{157877F4-BE94-5DF9-09F5-CCE39EBF5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172" y="-662796"/>
            <a:ext cx="3190875" cy="237172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CF3A77A-A299-928B-DE9F-DF0AAC8C90F1}"/>
              </a:ext>
            </a:extLst>
          </p:cNvPr>
          <p:cNvSpPr/>
          <p:nvPr/>
        </p:nvSpPr>
        <p:spPr>
          <a:xfrm>
            <a:off x="3749039" y="566928"/>
            <a:ext cx="4389120" cy="530352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Flow Chart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ADCB7D-7EC1-965E-DE60-4270C876CD09}"/>
              </a:ext>
            </a:extLst>
          </p:cNvPr>
          <p:cNvSpPr/>
          <p:nvPr/>
        </p:nvSpPr>
        <p:spPr>
          <a:xfrm>
            <a:off x="1097280" y="2240280"/>
            <a:ext cx="822960" cy="54864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46" name="Rounded Rectangle 4">
            <a:extLst>
              <a:ext uri="{FF2B5EF4-FFF2-40B4-BE49-F238E27FC236}">
                <a16:creationId xmlns:a16="http://schemas.microsoft.com/office/drawing/2014/main" id="{B208C10C-2B14-B8DF-2C34-A2C59546986B}"/>
              </a:ext>
            </a:extLst>
          </p:cNvPr>
          <p:cNvSpPr/>
          <p:nvPr/>
        </p:nvSpPr>
        <p:spPr>
          <a:xfrm>
            <a:off x="2194560" y="2057400"/>
            <a:ext cx="1645920" cy="868680"/>
          </a:xfrm>
          <a:prstGeom prst="roundRect">
            <a:avLst/>
          </a:prstGeom>
          <a:solidFill>
            <a:srgbClr val="FFEEEE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191919"/>
                </a:solidFill>
                <a:latin typeface="Arial"/>
              </a:defRPr>
            </a:pPr>
            <a:r>
              <a:t>User enters</a:t>
            </a:r>
            <a:br/>
            <a:r>
              <a:t>search query</a:t>
            </a:r>
          </a:p>
        </p:txBody>
      </p:sp>
      <p:sp>
        <p:nvSpPr>
          <p:cNvPr id="47" name="Rounded Rectangle 5">
            <a:extLst>
              <a:ext uri="{FF2B5EF4-FFF2-40B4-BE49-F238E27FC236}">
                <a16:creationId xmlns:a16="http://schemas.microsoft.com/office/drawing/2014/main" id="{9C0A0B27-C61C-1805-A3D1-C133FD2C16D1}"/>
              </a:ext>
            </a:extLst>
          </p:cNvPr>
          <p:cNvSpPr/>
          <p:nvPr/>
        </p:nvSpPr>
        <p:spPr>
          <a:xfrm>
            <a:off x="4160520" y="2057400"/>
            <a:ext cx="2148840" cy="868680"/>
          </a:xfrm>
          <a:prstGeom prst="roundRect">
            <a:avLst/>
          </a:prstGeom>
          <a:solidFill>
            <a:srgbClr val="FFEEEE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Select search parameter</a:t>
            </a:r>
            <a:br/>
            <a:r>
              <a:t>Title / Author / ISBN</a:t>
            </a:r>
            <a:br/>
            <a:r>
              <a:t>Category / Keyword</a:t>
            </a:r>
          </a:p>
        </p:txBody>
      </p:sp>
      <p:sp>
        <p:nvSpPr>
          <p:cNvPr id="48" name="Rounded Rectangle 6">
            <a:extLst>
              <a:ext uri="{FF2B5EF4-FFF2-40B4-BE49-F238E27FC236}">
                <a16:creationId xmlns:a16="http://schemas.microsoft.com/office/drawing/2014/main" id="{481B74EB-05E5-C6A5-E729-69E4C780A5FE}"/>
              </a:ext>
            </a:extLst>
          </p:cNvPr>
          <p:cNvSpPr/>
          <p:nvPr/>
        </p:nvSpPr>
        <p:spPr>
          <a:xfrm>
            <a:off x="6720840" y="2057400"/>
            <a:ext cx="2148840" cy="868680"/>
          </a:xfrm>
          <a:prstGeom prst="roundRect">
            <a:avLst/>
          </a:prstGeom>
          <a:solidFill>
            <a:srgbClr val="FFEEEE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Search indexed repository</a:t>
            </a:r>
            <a:br/>
            <a:r>
              <a:t>using DSA techniques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78DAE931-1268-BDB0-02E9-F30437523DF6}"/>
              </a:ext>
            </a:extLst>
          </p:cNvPr>
          <p:cNvSpPr/>
          <p:nvPr/>
        </p:nvSpPr>
        <p:spPr>
          <a:xfrm>
            <a:off x="9464040" y="1965960"/>
            <a:ext cx="1444255" cy="939327"/>
          </a:xfrm>
          <a:prstGeom prst="diamond">
            <a:avLst/>
          </a:prstGeom>
          <a:solidFill>
            <a:srgbClr val="FFF9E6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Match</a:t>
            </a:r>
            <a:br/>
            <a:r>
              <a:t>Found?</a:t>
            </a:r>
          </a:p>
        </p:txBody>
      </p:sp>
      <p:sp>
        <p:nvSpPr>
          <p:cNvPr id="50" name="Rounded Rectangle 8">
            <a:extLst>
              <a:ext uri="{FF2B5EF4-FFF2-40B4-BE49-F238E27FC236}">
                <a16:creationId xmlns:a16="http://schemas.microsoft.com/office/drawing/2014/main" id="{254FE2F8-EAF7-4962-AD97-36631E37F449}"/>
              </a:ext>
            </a:extLst>
          </p:cNvPr>
          <p:cNvSpPr/>
          <p:nvPr/>
        </p:nvSpPr>
        <p:spPr>
          <a:xfrm>
            <a:off x="8183879" y="3977639"/>
            <a:ext cx="2057400" cy="822960"/>
          </a:xfrm>
          <a:prstGeom prst="roundRect">
            <a:avLst/>
          </a:prstGeom>
          <a:solidFill>
            <a:srgbClr val="E7F6EB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191919"/>
                </a:solidFill>
                <a:latin typeface="Arial"/>
              </a:defRPr>
            </a:pPr>
            <a:r>
              <a:t>Display matching</a:t>
            </a:r>
            <a:br/>
            <a:r>
              <a:t>resource details</a:t>
            </a:r>
          </a:p>
        </p:txBody>
      </p:sp>
      <p:sp>
        <p:nvSpPr>
          <p:cNvPr id="51" name="Rounded Rectangle 9">
            <a:extLst>
              <a:ext uri="{FF2B5EF4-FFF2-40B4-BE49-F238E27FC236}">
                <a16:creationId xmlns:a16="http://schemas.microsoft.com/office/drawing/2014/main" id="{77F7DE61-74B7-E465-9609-2BA2E0A34036}"/>
              </a:ext>
            </a:extLst>
          </p:cNvPr>
          <p:cNvSpPr/>
          <p:nvPr/>
        </p:nvSpPr>
        <p:spPr>
          <a:xfrm>
            <a:off x="10561320" y="3977639"/>
            <a:ext cx="1325880" cy="822960"/>
          </a:xfrm>
          <a:prstGeom prst="roundRect">
            <a:avLst/>
          </a:prstGeom>
          <a:solidFill>
            <a:srgbClr val="FFEEEE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191919"/>
                </a:solidFill>
                <a:latin typeface="Arial"/>
              </a:defRPr>
            </a:pPr>
            <a:r>
              <a:t>Display</a:t>
            </a:r>
            <a:br/>
            <a:r>
              <a:t>No results</a:t>
            </a:r>
            <a:br/>
            <a:r>
              <a:t>found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97A85BB-C210-BDB4-4ADA-95F774C0A3DB}"/>
              </a:ext>
            </a:extLst>
          </p:cNvPr>
          <p:cNvSpPr/>
          <p:nvPr/>
        </p:nvSpPr>
        <p:spPr>
          <a:xfrm>
            <a:off x="9829800" y="5532120"/>
            <a:ext cx="822960" cy="54864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End</a:t>
            </a:r>
          </a:p>
        </p:txBody>
      </p:sp>
      <p:cxnSp>
        <p:nvCxnSpPr>
          <p:cNvPr id="53" name="Connector 11">
            <a:extLst>
              <a:ext uri="{FF2B5EF4-FFF2-40B4-BE49-F238E27FC236}">
                <a16:creationId xmlns:a16="http://schemas.microsoft.com/office/drawing/2014/main" id="{95A5C00D-CD4E-3108-FF46-2925DC4968ED}"/>
              </a:ext>
            </a:extLst>
          </p:cNvPr>
          <p:cNvCxnSpPr/>
          <p:nvPr/>
        </p:nvCxnSpPr>
        <p:spPr>
          <a:xfrm>
            <a:off x="1920240" y="2514600"/>
            <a:ext cx="2743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2">
            <a:extLst>
              <a:ext uri="{FF2B5EF4-FFF2-40B4-BE49-F238E27FC236}">
                <a16:creationId xmlns:a16="http://schemas.microsoft.com/office/drawing/2014/main" id="{85B296D2-AC0C-41B0-CA92-F8AB7909AD35}"/>
              </a:ext>
            </a:extLst>
          </p:cNvPr>
          <p:cNvCxnSpPr/>
          <p:nvPr/>
        </p:nvCxnSpPr>
        <p:spPr>
          <a:xfrm>
            <a:off x="3840480" y="2514600"/>
            <a:ext cx="32004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13">
            <a:extLst>
              <a:ext uri="{FF2B5EF4-FFF2-40B4-BE49-F238E27FC236}">
                <a16:creationId xmlns:a16="http://schemas.microsoft.com/office/drawing/2014/main" id="{FA51B720-BE2D-0CC0-282A-4186CF33C37F}"/>
              </a:ext>
            </a:extLst>
          </p:cNvPr>
          <p:cNvCxnSpPr/>
          <p:nvPr/>
        </p:nvCxnSpPr>
        <p:spPr>
          <a:xfrm>
            <a:off x="6309360" y="2514600"/>
            <a:ext cx="41148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14">
            <a:extLst>
              <a:ext uri="{FF2B5EF4-FFF2-40B4-BE49-F238E27FC236}">
                <a16:creationId xmlns:a16="http://schemas.microsoft.com/office/drawing/2014/main" id="{4A2080ED-74ED-97A0-9DE1-66D7CF6A7D7F}"/>
              </a:ext>
            </a:extLst>
          </p:cNvPr>
          <p:cNvCxnSpPr/>
          <p:nvPr/>
        </p:nvCxnSpPr>
        <p:spPr>
          <a:xfrm>
            <a:off x="8869680" y="2514600"/>
            <a:ext cx="59436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15">
            <a:extLst>
              <a:ext uri="{FF2B5EF4-FFF2-40B4-BE49-F238E27FC236}">
                <a16:creationId xmlns:a16="http://schemas.microsoft.com/office/drawing/2014/main" id="{DC296285-F61E-D4E8-47F5-F194330934B3}"/>
              </a:ext>
            </a:extLst>
          </p:cNvPr>
          <p:cNvCxnSpPr/>
          <p:nvPr/>
        </p:nvCxnSpPr>
        <p:spPr>
          <a:xfrm flipH="1">
            <a:off x="9189720" y="2880360"/>
            <a:ext cx="640080" cy="109727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16">
            <a:extLst>
              <a:ext uri="{FF2B5EF4-FFF2-40B4-BE49-F238E27FC236}">
                <a16:creationId xmlns:a16="http://schemas.microsoft.com/office/drawing/2014/main" id="{6AEB6B41-F279-B227-F0F2-91DB28C909EF}"/>
              </a:ext>
            </a:extLst>
          </p:cNvPr>
          <p:cNvCxnSpPr/>
          <p:nvPr/>
        </p:nvCxnSpPr>
        <p:spPr>
          <a:xfrm>
            <a:off x="10378440" y="2880360"/>
            <a:ext cx="822960" cy="109727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17">
            <a:extLst>
              <a:ext uri="{FF2B5EF4-FFF2-40B4-BE49-F238E27FC236}">
                <a16:creationId xmlns:a16="http://schemas.microsoft.com/office/drawing/2014/main" id="{4EB801C0-F374-34FE-CC29-A7088C840572}"/>
              </a:ext>
            </a:extLst>
          </p:cNvPr>
          <p:cNvCxnSpPr/>
          <p:nvPr/>
        </p:nvCxnSpPr>
        <p:spPr>
          <a:xfrm>
            <a:off x="9189720" y="4800600"/>
            <a:ext cx="822960" cy="73152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18">
            <a:extLst>
              <a:ext uri="{FF2B5EF4-FFF2-40B4-BE49-F238E27FC236}">
                <a16:creationId xmlns:a16="http://schemas.microsoft.com/office/drawing/2014/main" id="{AC5AEC02-CE61-59D6-8298-DCCBEE0621D3}"/>
              </a:ext>
            </a:extLst>
          </p:cNvPr>
          <p:cNvCxnSpPr/>
          <p:nvPr/>
        </p:nvCxnSpPr>
        <p:spPr>
          <a:xfrm flipH="1">
            <a:off x="10424160" y="4800600"/>
            <a:ext cx="777240" cy="73152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19">
            <a:extLst>
              <a:ext uri="{FF2B5EF4-FFF2-40B4-BE49-F238E27FC236}">
                <a16:creationId xmlns:a16="http://schemas.microsoft.com/office/drawing/2014/main" id="{1EC0D608-EB8C-D6BA-C896-DE0659561BF4}"/>
              </a:ext>
            </a:extLst>
          </p:cNvPr>
          <p:cNvSpPr txBox="1"/>
          <p:nvPr/>
        </p:nvSpPr>
        <p:spPr>
          <a:xfrm>
            <a:off x="8943163" y="3285933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5A5A5A"/>
                </a:solidFill>
                <a:latin typeface="Arial"/>
              </a:rPr>
              <a:t>Yes</a:t>
            </a:r>
          </a:p>
        </p:txBody>
      </p:sp>
      <p:sp>
        <p:nvSpPr>
          <p:cNvPr id="62" name="TextBox 20">
            <a:extLst>
              <a:ext uri="{FF2B5EF4-FFF2-40B4-BE49-F238E27FC236}">
                <a16:creationId xmlns:a16="http://schemas.microsoft.com/office/drawing/2014/main" id="{EB95B152-2BC3-DF42-5E49-FCE133DBD977}"/>
              </a:ext>
            </a:extLst>
          </p:cNvPr>
          <p:cNvSpPr txBox="1"/>
          <p:nvPr/>
        </p:nvSpPr>
        <p:spPr>
          <a:xfrm>
            <a:off x="10810713" y="3285933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5A5A5A"/>
                </a:solidFill>
                <a:latin typeface="Arial"/>
              </a:rPr>
              <a:t>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09</a:t>
            </a:r>
          </a:p>
        </p:txBody>
      </p:sp>
      <p:pic>
        <p:nvPicPr>
          <p:cNvPr id="43" name="Picture 42" descr="MAPS &amp; DIRECTIONS - Best Private University in Telangana ...">
            <a:extLst>
              <a:ext uri="{FF2B5EF4-FFF2-40B4-BE49-F238E27FC236}">
                <a16:creationId xmlns:a16="http://schemas.microsoft.com/office/drawing/2014/main" id="{FAE5EFC9-19FA-FF71-C2A5-84B00855C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146" y="-573911"/>
            <a:ext cx="2743199" cy="203897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4CAA68F-8313-4666-6F98-B34A1BB8D1ED}"/>
              </a:ext>
            </a:extLst>
          </p:cNvPr>
          <p:cNvSpPr/>
          <p:nvPr/>
        </p:nvSpPr>
        <p:spPr>
          <a:xfrm>
            <a:off x="3749039" y="566928"/>
            <a:ext cx="4389120" cy="530352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Features of the Project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CB4A8A-9FBC-0B64-E61C-78B5AE8FF4F4}"/>
              </a:ext>
            </a:extLst>
          </p:cNvPr>
          <p:cNvSpPr/>
          <p:nvPr/>
        </p:nvSpPr>
        <p:spPr>
          <a:xfrm>
            <a:off x="1920240" y="141732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Search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Search by Title, Author, ISBN, Category, and Keywords.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Supports exact, keyword, and fuzzy search.</a:t>
            </a:r>
          </a:p>
        </p:txBody>
      </p: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F7522241-44ED-12CD-7F07-8A7A5FE62104}"/>
              </a:ext>
            </a:extLst>
          </p:cNvPr>
          <p:cNvSpPr/>
          <p:nvPr/>
        </p:nvSpPr>
        <p:spPr>
          <a:xfrm>
            <a:off x="5166360" y="141732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Repository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Around 50,000 records.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Books, Journals, Research Papers, Magazines.</a:t>
            </a:r>
          </a:p>
        </p:txBody>
      </p:sp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2962634C-4EA0-2AC3-7C1D-DB5496814FB8}"/>
              </a:ext>
            </a:extLst>
          </p:cNvPr>
          <p:cNvSpPr/>
          <p:nvPr/>
        </p:nvSpPr>
        <p:spPr>
          <a:xfrm>
            <a:off x="8412480" y="141732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Admin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Add, update, delete and manage resources.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Changes are saved in text files.</a:t>
            </a:r>
          </a:p>
        </p:txBody>
      </p:sp>
      <p:sp>
        <p:nvSpPr>
          <p:cNvPr id="46" name="Rounded Rectangle 6">
            <a:extLst>
              <a:ext uri="{FF2B5EF4-FFF2-40B4-BE49-F238E27FC236}">
                <a16:creationId xmlns:a16="http://schemas.microsoft.com/office/drawing/2014/main" id="{FDB201EB-9E3E-8B26-6254-8FB8A852B836}"/>
              </a:ext>
            </a:extLst>
          </p:cNvPr>
          <p:cNvSpPr/>
          <p:nvPr/>
        </p:nvSpPr>
        <p:spPr>
          <a:xfrm>
            <a:off x="1920240" y="342900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Analytics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Shows dataset and search insights.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Useful for final project demonstration.</a:t>
            </a:r>
          </a:p>
        </p:txBody>
      </p:sp>
      <p:sp>
        <p:nvSpPr>
          <p:cNvPr id="47" name="Rounded Rectangle 7">
            <a:extLst>
              <a:ext uri="{FF2B5EF4-FFF2-40B4-BE49-F238E27FC236}">
                <a16:creationId xmlns:a16="http://schemas.microsoft.com/office/drawing/2014/main" id="{43BCD864-2794-8909-1275-72C85FEA54A8}"/>
              </a:ext>
            </a:extLst>
          </p:cNvPr>
          <p:cNvSpPr/>
          <p:nvPr/>
        </p:nvSpPr>
        <p:spPr>
          <a:xfrm>
            <a:off x="5166360" y="342900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Algorithm Lab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Demonstrates CO1 to CO6.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Shows DSA concepts clearly.</a:t>
            </a:r>
          </a:p>
        </p:txBody>
      </p:sp>
      <p:sp>
        <p:nvSpPr>
          <p:cNvPr id="48" name="Rounded Rectangle 8">
            <a:extLst>
              <a:ext uri="{FF2B5EF4-FFF2-40B4-BE49-F238E27FC236}">
                <a16:creationId xmlns:a16="http://schemas.microsoft.com/office/drawing/2014/main" id="{5C310813-D358-EE1A-E8EA-E27F1BAEBA9A}"/>
              </a:ext>
            </a:extLst>
          </p:cNvPr>
          <p:cNvSpPr/>
          <p:nvPr/>
        </p:nvSpPr>
        <p:spPr>
          <a:xfrm>
            <a:off x="8412480" y="3429000"/>
            <a:ext cx="2743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User Interface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Modern responsive website.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Simple and easy to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4181E"/>
                </a:solidFill>
                <a:latin typeface="Aptos Display"/>
              </a:rPr>
              <a:t>CO1–CO6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17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470"/>
                </a:solidFill>
                <a:latin typeface="Aptos"/>
              </a:rPr>
              <a:t>How the project connects course outcomes with concrete algorithm demonstrations.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143000" cy="566928"/>
          </a:xfrm>
          <a:prstGeom prst="round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828800"/>
            <a:ext cx="9509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76272" y="190195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181E"/>
                </a:solidFill>
                <a:latin typeface="Aptos"/>
              </a:rPr>
              <a:t>Algorithm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01952"/>
            <a:ext cx="6629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C6470"/>
                </a:solidFill>
                <a:latin typeface="Aptos"/>
              </a:rPr>
              <a:t>Classifies the query and selects a suitable search strategy.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51176"/>
            <a:ext cx="1143000" cy="566928"/>
          </a:xfrm>
          <a:prstGeom prst="round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660904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2551176"/>
            <a:ext cx="9509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2624328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181E"/>
                </a:solidFill>
                <a:latin typeface="Aptos"/>
              </a:rPr>
              <a:t>String 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24328"/>
            <a:ext cx="6629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C6470"/>
                </a:solidFill>
                <a:latin typeface="Aptos"/>
              </a:rPr>
              <a:t>KMP, Z-Function, Rabin–Karp, Suffix Array / LCP.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73552"/>
            <a:ext cx="1143000" cy="566928"/>
          </a:xfrm>
          <a:prstGeom prst="round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3273552"/>
            <a:ext cx="9509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76272" y="3346704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181E"/>
                </a:solidFill>
                <a:latin typeface="Aptos"/>
              </a:rPr>
              <a:t>Dynamic Programming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46704"/>
            <a:ext cx="6629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C6470"/>
                </a:solidFill>
                <a:latin typeface="Aptos"/>
              </a:rPr>
              <a:t>Edit Distance for fuzzy-search demonstrations.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95928"/>
            <a:ext cx="1143000" cy="566928"/>
          </a:xfrm>
          <a:prstGeom prst="round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105656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3995928"/>
            <a:ext cx="9509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76272" y="4069080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181E"/>
                </a:solidFill>
                <a:latin typeface="Aptos"/>
              </a:rPr>
              <a:t>Network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69080"/>
            <a:ext cx="6629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C6470"/>
                </a:solidFill>
                <a:latin typeface="Aptos"/>
              </a:rPr>
              <a:t>Ford–Fulkerson / Edmonds–Karp allocation demo.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18304"/>
            <a:ext cx="1143000" cy="566928"/>
          </a:xfrm>
          <a:prstGeom prst="round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828032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4718304"/>
            <a:ext cx="9509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76272" y="4791456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181E"/>
                </a:solidFill>
                <a:latin typeface="Aptos"/>
              </a:rPr>
              <a:t>Approximation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91456"/>
            <a:ext cx="6629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C6470"/>
                </a:solidFill>
                <a:latin typeface="Aptos"/>
              </a:rPr>
              <a:t>Set Cover / Vertex Cover optimisation demo.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440680"/>
            <a:ext cx="1143000" cy="566928"/>
          </a:xfrm>
          <a:prstGeom prst="round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550408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65960" y="5440680"/>
            <a:ext cx="9509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76272" y="551383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181E"/>
                </a:solidFill>
                <a:latin typeface="Aptos"/>
              </a:rPr>
              <a:t>Randomized &amp; Parallel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513832"/>
            <a:ext cx="6629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C6470"/>
                </a:solidFill>
                <a:latin typeface="Aptos"/>
              </a:rPr>
              <a:t>Randomized QuickSort, Reservoir Sampling, Parallel Search.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10</a:t>
            </a:r>
          </a:p>
        </p:txBody>
      </p:sp>
      <p:pic>
        <p:nvPicPr>
          <p:cNvPr id="43" name="Picture 42" descr="MAPS &amp; DIRECTIONS - Best Private University in Telangana ...">
            <a:extLst>
              <a:ext uri="{FF2B5EF4-FFF2-40B4-BE49-F238E27FC236}">
                <a16:creationId xmlns:a16="http://schemas.microsoft.com/office/drawing/2014/main" id="{C66E1E3F-6BCD-AB2F-FD04-28E13633C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460" y="-662795"/>
            <a:ext cx="3190875" cy="2371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4181E"/>
                </a:solidFill>
                <a:latin typeface="Aptos Display"/>
              </a:rPr>
              <a:t>Tools, Technologies &amp; Algorithms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3832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181E"/>
                </a:solidFill>
                <a:latin typeface="Aptos Display"/>
              </a:rPr>
              <a:t>Programming &amp;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29809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Java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HTML / CSS / JavaScript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Structured .txt files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Java File I/O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74519"/>
            <a:ext cx="33832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039112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181E"/>
                </a:solidFill>
                <a:latin typeface="Aptos Display"/>
              </a:rPr>
              <a:t>Data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441448"/>
            <a:ext cx="29809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Arrays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Linked Structures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Hash Tables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Indexes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874519"/>
            <a:ext cx="33832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0184" y="2039112"/>
            <a:ext cx="29809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181E"/>
                </a:solidFill>
                <a:latin typeface="Aptos Display"/>
              </a:rPr>
              <a:t>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2441448"/>
            <a:ext cx="29809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Linear / Binary Search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KMP • Rabin–Karp • Z-Function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Merge / Quick Sort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Edit Distance • Max Flow • Approximation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14181E"/>
                </a:solidFill>
                <a:latin typeface="Aptos"/>
              </a:rPr>
              <a:t>•  Reservoir Sampling • Parallel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11</a:t>
            </a:r>
          </a:p>
        </p:txBody>
      </p:sp>
      <p:pic>
        <p:nvPicPr>
          <p:cNvPr id="23" name="Picture 22" descr="MAPS &amp; DIRECTIONS - Best Private University in Telangana ...">
            <a:extLst>
              <a:ext uri="{FF2B5EF4-FFF2-40B4-BE49-F238E27FC236}">
                <a16:creationId xmlns:a16="http://schemas.microsoft.com/office/drawing/2014/main" id="{BCA95FD8-CA58-6221-7CFA-EAC6F6A88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315" y="-477047"/>
            <a:ext cx="2743199" cy="2038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3546" y="22834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4181E"/>
                </a:solidFill>
                <a:latin typeface="Aptos Display"/>
              </a:rPr>
              <a:t>Project Screens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12</a:t>
            </a:r>
          </a:p>
        </p:txBody>
      </p:sp>
      <p:pic>
        <p:nvPicPr>
          <p:cNvPr id="18" name="Picture 17" descr="MAPS &amp; DIRECTIONS - Best Private University in Telangana ...">
            <a:extLst>
              <a:ext uri="{FF2B5EF4-FFF2-40B4-BE49-F238E27FC236}">
                <a16:creationId xmlns:a16="http://schemas.microsoft.com/office/drawing/2014/main" id="{B65B2725-F408-A8CD-7CD2-A329D0644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677" y="-621168"/>
            <a:ext cx="2743199" cy="20389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81B6EE-9D25-1DCA-2980-CAD7811A0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83" y="1075070"/>
            <a:ext cx="4425556" cy="27349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EA8D51-844B-B903-3694-1EE4B709B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993" y="1075069"/>
            <a:ext cx="4287501" cy="2534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953315-6AE0-F65E-5CFA-55A0418BD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00" y="4010837"/>
            <a:ext cx="4634495" cy="2847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0554E-A2B6-14BD-27EB-023F3B8D1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963" y="3845442"/>
            <a:ext cx="4635609" cy="27940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3A57D-EABA-0A54-7F8C-7E6971F2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ABB47A-266A-B1D4-A71E-1A9141E9343F}"/>
              </a:ext>
            </a:extLst>
          </p:cNvPr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29509E9-962C-6E2D-33E0-B5FCC2804D76}"/>
              </a:ext>
            </a:extLst>
          </p:cNvPr>
          <p:cNvSpPr/>
          <p:nvPr/>
        </p:nvSpPr>
        <p:spPr>
          <a:xfrm>
            <a:off x="904358" y="1782844"/>
            <a:ext cx="4663557" cy="4242863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0CCA3-3C0F-F401-E2B8-DDFC9ACEC335}"/>
              </a:ext>
            </a:extLst>
          </p:cNvPr>
          <p:cNvSpPr txBox="1"/>
          <p:nvPr/>
        </p:nvSpPr>
        <p:spPr>
          <a:xfrm>
            <a:off x="2020541" y="2210013"/>
            <a:ext cx="2309350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1600" b="1" dirty="0">
                <a:solidFill>
                  <a:srgbClr val="14181E"/>
                </a:solidFill>
                <a:latin typeface="Aptos Display"/>
              </a:rPr>
              <a:t>Hardware Requirements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EA7CC-D2D5-1E9D-A06C-E3EAA5AAAE39}"/>
              </a:ext>
            </a:extLst>
          </p:cNvPr>
          <p:cNvSpPr txBox="1"/>
          <p:nvPr/>
        </p:nvSpPr>
        <p:spPr>
          <a:xfrm>
            <a:off x="1707471" y="2779445"/>
            <a:ext cx="3063240" cy="27161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Processor: Intel Core i3 or above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RAM: Minimum 4 GB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Storage: Minimum 10 GB free space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Keyboard and Mouse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Monitor/Desktop or Laptop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Internet Connection: Optional, for installing software and libraries</a:t>
            </a:r>
          </a:p>
          <a:p>
            <a:endParaRPr lang="en-US" sz="1050" dirty="0">
              <a:solidFill>
                <a:srgbClr val="5C6470"/>
              </a:solidFill>
              <a:latin typeface="Apto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F9B15F-441E-AE1E-2D26-AB992206A53F}"/>
              </a:ext>
            </a:extLst>
          </p:cNvPr>
          <p:cNvSpPr/>
          <p:nvPr/>
        </p:nvSpPr>
        <p:spPr>
          <a:xfrm>
            <a:off x="6834609" y="1918704"/>
            <a:ext cx="4527698" cy="4107003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3A2E41-08E9-D9DD-9E86-8082AF48B6A4}"/>
              </a:ext>
            </a:extLst>
          </p:cNvPr>
          <p:cNvSpPr txBox="1"/>
          <p:nvPr/>
        </p:nvSpPr>
        <p:spPr>
          <a:xfrm>
            <a:off x="7962605" y="2074152"/>
            <a:ext cx="224856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1600" b="1" dirty="0">
                <a:solidFill>
                  <a:srgbClr val="14181E"/>
                </a:solidFill>
                <a:latin typeface="Aptos Display"/>
              </a:rPr>
              <a:t>Software Requirements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F1307-54AE-F104-1E60-59D9F4EF0287}"/>
              </a:ext>
            </a:extLst>
          </p:cNvPr>
          <p:cNvSpPr txBox="1"/>
          <p:nvPr/>
        </p:nvSpPr>
        <p:spPr>
          <a:xfrm>
            <a:off x="7354186" y="2549073"/>
            <a:ext cx="3470821" cy="29623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Operating System: Windows 10/11, Linux, or macOS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Programming Language: Java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Data Structures / DSA: Arrays, linked structures, hashing concepts, searching and sorting techniques </a:t>
            </a:r>
            <a:endParaRPr lang="en-GB" sz="1600" dirty="0">
              <a:solidFill>
                <a:srgbClr val="5C647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Database: MySQL </a:t>
            </a:r>
            <a:endParaRPr lang="en-GB" sz="1600" dirty="0">
              <a:solidFill>
                <a:srgbClr val="5C647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Database Connectivity: JDBC </a:t>
            </a:r>
            <a:endParaRPr lang="en-GB" sz="1600" dirty="0">
              <a:solidFill>
                <a:srgbClr val="5C647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IDE: VS Code / IntelliJ IDEA / Eclipse </a:t>
            </a:r>
            <a:endParaRPr lang="en-GB" sz="1600" dirty="0">
              <a:solidFill>
                <a:srgbClr val="5C647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Database Tool: MySQL Workbench </a:t>
            </a:r>
            <a:endParaRPr lang="en-GB" sz="1600">
              <a:solidFill>
                <a:srgbClr val="5C647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Version Control: Git/GitHub</a:t>
            </a:r>
            <a:endParaRPr lang="en-GB" sz="1600" dirty="0">
              <a:solidFill>
                <a:srgbClr val="5C6470"/>
              </a:solidFill>
              <a:ea typeface="+mn-lt"/>
              <a:cs typeface="+mn-lt"/>
            </a:endParaRPr>
          </a:p>
          <a:p>
            <a:endParaRPr sz="1050" dirty="0">
              <a:solidFill>
                <a:srgbClr val="5C6470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774B74-E8FA-E7EF-F0AC-43361363DA6D}"/>
              </a:ext>
            </a:extLst>
          </p:cNvPr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14</a:t>
            </a:r>
          </a:p>
        </p:txBody>
      </p:sp>
      <p:pic>
        <p:nvPicPr>
          <p:cNvPr id="22" name="Picture 21" descr="MAPS &amp; DIRECTIONS - Best Private University in Telangana ...">
            <a:extLst>
              <a:ext uri="{FF2B5EF4-FFF2-40B4-BE49-F238E27FC236}">
                <a16:creationId xmlns:a16="http://schemas.microsoft.com/office/drawing/2014/main" id="{62962B9C-1E73-9B64-B362-30A56DB42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654" y="-535166"/>
            <a:ext cx="2743199" cy="2038975"/>
          </a:xfrm>
          <a:prstGeom prst="rect">
            <a:avLst/>
          </a:prstGeom>
        </p:spPr>
      </p:pic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020070FB-6299-9C3A-3BEA-862800CED6CC}"/>
              </a:ext>
            </a:extLst>
          </p:cNvPr>
          <p:cNvSpPr/>
          <p:nvPr/>
        </p:nvSpPr>
        <p:spPr>
          <a:xfrm>
            <a:off x="2018295" y="484231"/>
            <a:ext cx="6875957" cy="920212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b="1" dirty="0">
                <a:solidFill>
                  <a:srgbClr val="FFFFFF"/>
                </a:solidFill>
                <a:latin typeface="Arial"/>
                <a:cs typeface="Arial"/>
              </a:rPr>
              <a:t>Hardware and Software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3042108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0498" y="1700147"/>
            <a:ext cx="10818627" cy="354583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9238" y="2052887"/>
            <a:ext cx="10635983" cy="29623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The Digital Library Search System applies Data Structures and Algorithms to improve library resource searching.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Provides a structured method to store and access library records.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Reduces the need for manual searching through large collections.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Supports multi-parameter search using: Title, Author, ISBN, Category, Keywords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Uses indexed and hash-based structures for faster resource retrieval.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Improves the efficiency and reliability of information retrieval.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Demonstrates the importance of selecting suitable data structures and algorithms.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Helps achieve faster and better data processing.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Provides a scalable and efficient solution as the repository grows.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Offers a user-friendly approach to digital library resource search.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5C6470"/>
                </a:solidFill>
                <a:ea typeface="+mn-lt"/>
                <a:cs typeface="+mn-lt"/>
              </a:rPr>
              <a:t>Demonstrates the practical application of DSA in a real-world problem.</a:t>
            </a:r>
          </a:p>
          <a:p>
            <a:endParaRPr lang="en-US" sz="1050" dirty="0">
              <a:solidFill>
                <a:srgbClr val="5C647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14</a:t>
            </a:r>
          </a:p>
        </p:txBody>
      </p:sp>
      <p:pic>
        <p:nvPicPr>
          <p:cNvPr id="22" name="Picture 21" descr="MAPS &amp; DIRECTIONS - Best Private University in Telangana ...">
            <a:extLst>
              <a:ext uri="{FF2B5EF4-FFF2-40B4-BE49-F238E27FC236}">
                <a16:creationId xmlns:a16="http://schemas.microsoft.com/office/drawing/2014/main" id="{5224F57C-28E1-C3B6-57EF-2DB038BA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654" y="-535166"/>
            <a:ext cx="2743199" cy="2038975"/>
          </a:xfrm>
          <a:prstGeom prst="rect">
            <a:avLst/>
          </a:prstGeom>
        </p:spPr>
      </p:pic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FFC105D9-A7C7-E415-7D84-C3DF1C14CCF7}"/>
              </a:ext>
            </a:extLst>
          </p:cNvPr>
          <p:cNvSpPr/>
          <p:nvPr/>
        </p:nvSpPr>
        <p:spPr>
          <a:xfrm>
            <a:off x="1695302" y="5775015"/>
            <a:ext cx="7955279" cy="777240"/>
          </a:xfrm>
          <a:prstGeom prst="roundRect">
            <a:avLst/>
          </a:prstGeom>
          <a:solidFill>
            <a:srgbClr val="FFFAFA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C00000"/>
                </a:solidFill>
                <a:latin typeface="Arial"/>
              </a:defRPr>
            </a:pPr>
            <a:r>
              <a:t>Final Conclusion</a:t>
            </a:r>
          </a:p>
          <a:p>
            <a:pPr>
              <a:spcAft>
                <a:spcPts val="3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A scalable, DSA-oriented, text-file based Digital Library Search System with a modern GUI.</a:t>
            </a:r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6B006DE6-41C5-81D2-6DC9-78AC8B384A3A}"/>
              </a:ext>
            </a:extLst>
          </p:cNvPr>
          <p:cNvSpPr/>
          <p:nvPr/>
        </p:nvSpPr>
        <p:spPr>
          <a:xfrm>
            <a:off x="3961690" y="318836"/>
            <a:ext cx="3414469" cy="920212"/>
          </a:xfrm>
          <a:prstGeom prst="roundRect">
            <a:avLst/>
          </a:prstGeom>
          <a:solidFill>
            <a:srgbClr val="C00000"/>
          </a:solidFill>
          <a:ln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b="1" dirty="0">
                <a:solidFill>
                  <a:srgbClr val="FFFFFF"/>
                </a:solidFill>
                <a:latin typeface="Arial"/>
                <a:cs typeface="Arial"/>
              </a:rPr>
              <a:t>Conclusion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14181E"/>
                </a:solidFill>
                <a:latin typeface="Aptos Display"/>
              </a:rPr>
              <a:t>Future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613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7552" y="1993392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ea typeface="Calibri"/>
                <a:cs typeface="Calibri"/>
              </a:rPr>
              <a:t>1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463040" y="1984248"/>
            <a:ext cx="9738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181E"/>
                </a:solidFill>
                <a:latin typeface="Aptos Display"/>
              </a:rPr>
              <a:t>Role-based login for students, faculty and administrators.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41448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651760"/>
            <a:ext cx="105613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87552" y="2816352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ea typeface="Calibri"/>
                <a:cs typeface="Calibri"/>
              </a:rPr>
              <a:t>2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463040" y="2807208"/>
            <a:ext cx="9738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181E"/>
                </a:solidFill>
                <a:latin typeface="Aptos Display"/>
              </a:rPr>
              <a:t>Improved relevance ranking and intelligent search.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64408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474720"/>
            <a:ext cx="105613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87552" y="3639312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ea typeface="Calibri"/>
                <a:cs typeface="Calibri"/>
              </a:rPr>
              <a:t>3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3630168"/>
            <a:ext cx="9738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181E"/>
                </a:solidFill>
                <a:latin typeface="Aptos Display"/>
              </a:rPr>
              <a:t>Advanced filters: year, subject, type and availability.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87368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4297680"/>
            <a:ext cx="105613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87552" y="4462272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ea typeface="Calibri"/>
                <a:cs typeface="Calibri"/>
              </a:rPr>
              <a:t>4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463040" y="4453128"/>
            <a:ext cx="9738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181E"/>
                </a:solidFill>
                <a:latin typeface="Aptos Display"/>
              </a:rPr>
              <a:t>Detailed usage reports and search analytics.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10328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5120640"/>
            <a:ext cx="105613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87552" y="5285231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5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463040" y="5276088"/>
            <a:ext cx="9738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181E"/>
                </a:solidFill>
                <a:latin typeface="Aptos Display"/>
              </a:rPr>
              <a:t>Mobile application and cloud deployment support.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33288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181E"/>
                </a:solidFill>
                <a:latin typeface="Aptos"/>
              </a:rPr>
              <a:t>15</a:t>
            </a:r>
          </a:p>
        </p:txBody>
      </p:sp>
      <p:pic>
        <p:nvPicPr>
          <p:cNvPr id="38" name="Picture 37" descr="MAPS &amp; DIRECTIONS - Best Private University in Telangana ...">
            <a:extLst>
              <a:ext uri="{FF2B5EF4-FFF2-40B4-BE49-F238E27FC236}">
                <a16:creationId xmlns:a16="http://schemas.microsoft.com/office/drawing/2014/main" id="{532C7D71-BEF7-A196-3958-7E2CF0043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256" y="-707999"/>
            <a:ext cx="3190875" cy="2371725"/>
          </a:xfrm>
          <a:prstGeom prst="rect">
            <a:avLst/>
          </a:prstGeom>
        </p:spPr>
      </p:pic>
      <p:sp>
        <p:nvSpPr>
          <p:cNvPr id="3" name="Rounded Rectangle 26">
            <a:extLst>
              <a:ext uri="{FF2B5EF4-FFF2-40B4-BE49-F238E27FC236}">
                <a16:creationId xmlns:a16="http://schemas.microsoft.com/office/drawing/2014/main" id="{FF677B56-79DD-D262-9953-305F6A85C6FA}"/>
              </a:ext>
            </a:extLst>
          </p:cNvPr>
          <p:cNvSpPr/>
          <p:nvPr/>
        </p:nvSpPr>
        <p:spPr>
          <a:xfrm>
            <a:off x="811146" y="5923988"/>
            <a:ext cx="105613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794DEA-69F9-A3A0-27E1-01636B1FA105}"/>
              </a:ext>
            </a:extLst>
          </p:cNvPr>
          <p:cNvSpPr/>
          <p:nvPr/>
        </p:nvSpPr>
        <p:spPr>
          <a:xfrm>
            <a:off x="975738" y="6088579"/>
            <a:ext cx="365760" cy="365760"/>
          </a:xfrm>
          <a:prstGeom prst="ellipse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6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0BACD2-2825-27A1-AB88-67B0C9B6594D}"/>
              </a:ext>
            </a:extLst>
          </p:cNvPr>
          <p:cNvSpPr txBox="1"/>
          <p:nvPr/>
        </p:nvSpPr>
        <p:spPr>
          <a:xfrm>
            <a:off x="1451226" y="6079436"/>
            <a:ext cx="3736985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sz="1400" b="1" dirty="0">
                <a:solidFill>
                  <a:srgbClr val="14181E"/>
                </a:solidFill>
                <a:latin typeface="Aptos Display"/>
              </a:rPr>
              <a:t>An AI chatbot that helps User to Interact easily.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337F62-088C-C061-696B-A92A36461869}"/>
              </a:ext>
            </a:extLst>
          </p:cNvPr>
          <p:cNvSpPr txBox="1"/>
          <p:nvPr/>
        </p:nvSpPr>
        <p:spPr>
          <a:xfrm>
            <a:off x="994026" y="6536636"/>
            <a:ext cx="101955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88219" y="2121077"/>
            <a:ext cx="3656514" cy="89255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5200" b="1" dirty="0">
                <a:latin typeface="Aptos Display"/>
              </a:rPr>
              <a:t>THANK YOU</a:t>
            </a:r>
            <a:endParaRPr lang="en-US" sz="5200" b="1" dirty="0">
              <a:latin typeface="Aptos Display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90813" y="3962754"/>
            <a:ext cx="7133975" cy="960120"/>
          </a:xfrm>
          <a:prstGeom prst="roundRect">
            <a:avLst/>
          </a:prstGeom>
          <a:solidFill>
            <a:srgbClr val="BE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315968"/>
            <a:ext cx="9921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Digital Library Search System  •  Tej Pratap Singh  •  B. Aryan  •  Team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47104"/>
            <a:ext cx="777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pic>
        <p:nvPicPr>
          <p:cNvPr id="12" name="Picture 11" descr="MAPS &amp; DIRECTIONS - Best Private University in Telangana ...">
            <a:extLst>
              <a:ext uri="{FF2B5EF4-FFF2-40B4-BE49-F238E27FC236}">
                <a16:creationId xmlns:a16="http://schemas.microsoft.com/office/drawing/2014/main" id="{398FD070-EDCF-C089-37E3-38FFE47B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858" y="-438602"/>
            <a:ext cx="2743199" cy="2038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416</cp:revision>
  <dcterms:created xsi:type="dcterms:W3CDTF">2013-01-27T09:14:16Z</dcterms:created>
  <dcterms:modified xsi:type="dcterms:W3CDTF">2026-10-03T03:53:07Z</dcterms:modified>
  <cp:category/>
</cp:coreProperties>
</file>